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9" r:id="rId2"/>
  </p:sldIdLst>
  <p:sldSz cx="12192000" cy="6858000"/>
  <p:notesSz cx="6858000" cy="9144000"/>
  <p:custDataLst>
    <p:tags r:id="rId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09"/>
    <p:restoredTop sz="93655" autoAdjust="0"/>
  </p:normalViewPr>
  <p:slideViewPr>
    <p:cSldViewPr snapToGrid="0">
      <p:cViewPr varScale="1">
        <p:scale>
          <a:sx n="63" d="100"/>
          <a:sy n="63" d="100"/>
        </p:scale>
        <p:origin x="78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7944FE-0438-41E2-8D35-39AEC793BE2A}" type="datetimeFigureOut">
              <a:rPr lang="zh-CN" altLang="en-US" smtClean="0"/>
              <a:t>2025/12/12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598008-CB4A-4A38-BC89-AADF8FC7BDF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598008-CB4A-4A38-BC89-AADF8FC7BDFE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90563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2025/12/12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2025/12/12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2025/12/12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2025/12/12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2025/12/12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2025/12/12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2025/12/12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608330" y="1555115"/>
            <a:ext cx="5233035" cy="4608195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2025/12/12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2025/12/12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2025/12/12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2025/12/12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2025/12/12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圆角矩形 4"/>
          <p:cNvSpPr/>
          <p:nvPr/>
        </p:nvSpPr>
        <p:spPr bwMode="auto">
          <a:xfrm>
            <a:off x="563245" y="2821940"/>
            <a:ext cx="3771900" cy="3888105"/>
          </a:xfrm>
          <a:prstGeom prst="roundRect">
            <a:avLst>
              <a:gd name="adj" fmla="val 3492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JingDongLangZhengTi Semilight" panose="02000500000000000000" pitchFamily="2" charset="-122"/>
              <a:ea typeface="JingDongLangZhengTi Semilight" panose="02000500000000000000" pitchFamily="2" charset="-122"/>
            </a:endParaRPr>
          </a:p>
        </p:txBody>
      </p:sp>
      <p:sp>
        <p:nvSpPr>
          <p:cNvPr id="6" name="圆角矩形 5"/>
          <p:cNvSpPr/>
          <p:nvPr/>
        </p:nvSpPr>
        <p:spPr bwMode="auto">
          <a:xfrm>
            <a:off x="163830" y="2796540"/>
            <a:ext cx="348615" cy="3913505"/>
          </a:xfrm>
          <a:prstGeom prst="roundRect">
            <a:avLst>
              <a:gd name="adj" fmla="val 16667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>
                <a:latin typeface="JingDongLangZhengTi Semilight" panose="02000500000000000000" pitchFamily="2" charset="-122"/>
                <a:ea typeface="JingDongLangZhengTi Semilight" panose="02000500000000000000" pitchFamily="2" charset="-122"/>
              </a:rPr>
              <a:t>核心卖点</a:t>
            </a:r>
          </a:p>
        </p:txBody>
      </p:sp>
      <p:sp>
        <p:nvSpPr>
          <p:cNvPr id="18" name="文本框 17"/>
          <p:cNvSpPr/>
          <p:nvPr/>
        </p:nvSpPr>
        <p:spPr bwMode="auto">
          <a:xfrm>
            <a:off x="8377385" y="3114308"/>
            <a:ext cx="3626316" cy="156376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ts val="3000"/>
              </a:lnSpc>
            </a:pPr>
            <a:r>
              <a:rPr lang="en-US" altLang="zh-CN" b="1" dirty="0">
                <a:solidFill>
                  <a:srgbClr val="FF0000"/>
                </a:solidFill>
                <a:latin typeface="JingDongLangZhengTi Semilight"/>
                <a:ea typeface="宋体" panose="02010600030101010101" pitchFamily="2" charset="-122"/>
                <a:cs typeface="Arial" panose="020B0604020202020204"/>
              </a:rPr>
              <a:t>1.</a:t>
            </a:r>
            <a:r>
              <a:rPr lang="" altLang="en-US" b="1" dirty="0">
                <a:solidFill>
                  <a:srgbClr val="FF0000"/>
                </a:solidFill>
                <a:latin typeface="JingDongLangZhengTi Semilight"/>
                <a:ea typeface="宋体" panose="02010600030101010101" pitchFamily="2" charset="-122"/>
                <a:cs typeface="Arial" panose="020B0604020202020204"/>
              </a:rPr>
              <a:t> </a:t>
            </a:r>
            <a:r>
              <a:rPr lang="zh-CN" altLang="en-US" b="1" dirty="0">
                <a:solidFill>
                  <a:srgbClr val="FF0000"/>
                </a:solidFill>
                <a:latin typeface="JingDongLangZhengTi Semilight"/>
                <a:ea typeface="宋体" panose="02010600030101010101" pitchFamily="2" charset="-122"/>
                <a:cs typeface="Arial" panose="020B0604020202020204"/>
              </a:rPr>
              <a:t>贴心售后保障：</a:t>
            </a:r>
            <a:r>
              <a:rPr lang="zh-CN" altLang="en-US" dirty="0">
                <a:solidFill/>
                <a:latin typeface="JingDongLangZhengTi Semilight"/>
                <a:ea typeface="宋体" panose="02010600030101010101" pitchFamily="2" charset="-122"/>
                <a:cs typeface="Arial" panose="020B0604020202020204"/>
              </a:rPr>
              <a:t>提供掉落包赔、破损补发服务，让消费者无后顾之忧，购买和使用更放心。</a:t>
            </a:r>
          </a:p>
          <a:p>
            <a:pPr>
              <a:lnSpc>
                <a:spcPts val="3000"/>
              </a:lnSpc>
            </a:pPr>
            <a:endParaRPr lang="" altLang="en-US" sz="1200" b="1" dirty="0">
              <a:solidFill>
                <a:srgbClr val="FF0000"/>
              </a:solidFill>
              <a:latin typeface="JingDongLangZhengTi Semilight"/>
              <a:ea typeface="宋体" panose="02010600030101010101" pitchFamily="2" charset="-122"/>
              <a:cs typeface="Arial" panose="020B0604020202020204"/>
            </a:endParaRPr>
          </a:p>
        </p:txBody>
      </p:sp>
      <p:sp>
        <p:nvSpPr>
          <p:cNvPr id="3" name="圆角矩形 2"/>
          <p:cNvSpPr/>
          <p:nvPr/>
        </p:nvSpPr>
        <p:spPr bwMode="auto">
          <a:xfrm>
            <a:off x="202563" y="115888"/>
            <a:ext cx="5890302" cy="2462212"/>
          </a:xfrm>
          <a:prstGeom prst="roundRect">
            <a:avLst>
              <a:gd name="adj" fmla="val 3492"/>
            </a:avLst>
          </a:prstGeom>
          <a:noFill/>
          <a:ln w="12700" cap="flat" cmpd="sng" algn="ctr">
            <a:solidFill>
              <a:srgbClr val="C00000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800" b="0" i="0" u="none" strike="noStrike" cap="none" spc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defRPr>
            </a:pPr>
            <a:endParaRPr lang="zh-CN">
              <a:latin typeface="JingDongLangZhengTi Semilight" panose="02000500000000000000" pitchFamily="2" charset="-122"/>
              <a:ea typeface="JingDongLangZhengTi Semilight" panose="02000500000000000000" pitchFamily="2" charset="-122"/>
            </a:endParaRPr>
          </a:p>
        </p:txBody>
      </p:sp>
      <p:sp>
        <p:nvSpPr>
          <p:cNvPr id="2" name="圆角矩形 1"/>
          <p:cNvSpPr/>
          <p:nvPr/>
        </p:nvSpPr>
        <p:spPr bwMode="auto">
          <a:xfrm>
            <a:off x="169544" y="111758"/>
            <a:ext cx="348615" cy="2456817"/>
          </a:xfrm>
          <a:prstGeom prst="roundRect">
            <a:avLst>
              <a:gd name="adj" fmla="val 16667"/>
            </a:avLst>
          </a:prstGeom>
          <a:solidFill>
            <a:srgbClr val="C000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800" b="0" i="0" u="none" strike="noStrike" cap="none" spc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defRPr>
            </a:pPr>
            <a:r>
              <a:rPr lang="zh-CN">
                <a:latin typeface="JingDongLangZhengTi Semilight" panose="02000500000000000000" pitchFamily="2" charset="-122"/>
                <a:ea typeface="JingDongLangZhengTi Semilight" panose="02000500000000000000" pitchFamily="2" charset="-122"/>
              </a:rPr>
              <a:t>基础信息</a:t>
            </a:r>
          </a:p>
        </p:txBody>
      </p:sp>
      <p:sp>
        <p:nvSpPr>
          <p:cNvPr id="13" name="product_name"/>
          <p:cNvSpPr/>
          <p:nvPr/>
        </p:nvSpPr>
        <p:spPr bwMode="auto">
          <a:xfrm>
            <a:off x="2449195" y="554083"/>
            <a:ext cx="3402589" cy="46435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ts val="2000"/>
              </a:lnSpc>
              <a:defRPr lang="zh-CN" sz="1800" b="0" i="0" u="none" strike="noStrike" cap="none" spc="0">
                <a:solidFill>
                  <a:srgbClr val="0000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defRPr>
            </a:pPr>
            <a:r>
              <a:rPr lang="en-US" altLang="zh-CN" dirty="0">
                <a:solidFill>
                  <a:srgbClr val="000000"/>
                </a:solidFill>
                <a:latin typeface="JingDongLangZhengTi Semilight"/>
                <a:ea typeface="JingDongLangZhengTi Semilight"/>
              </a:rPr>
              <a:t>【</a:t>
            </a:r>
            <a:r>
              <a:rPr lang="zh-CN" altLang="en-US" dirty="0">
                <a:solidFill>
                  <a:srgbClr val="000000"/>
                </a:solidFill>
                <a:latin typeface="JingDongLangZhengTi Semilight"/>
                <a:ea typeface="JingDongLangZhengTi Semilight"/>
              </a:rPr>
              <a:t>商品名称</a:t>
            </a:r>
            <a:r>
              <a:rPr lang="en-US" altLang="zh-CN" dirty="0">
                <a:latin typeface="JingDongLangZhengTi Semilight"/>
                <a:ea typeface="JingDongLangZhengTi Semilight"/>
                <a:sym typeface="+mn-ea"/>
              </a:rPr>
              <a:t>】</a:t>
            </a:r>
          </a:p>
        </p:txBody>
      </p:sp>
      <p:sp>
        <p:nvSpPr>
          <p:cNvPr id="16" name="文本框 15"/>
          <p:cNvSpPr/>
          <p:nvPr/>
        </p:nvSpPr>
        <p:spPr bwMode="auto">
          <a:xfrm>
            <a:off x="507364" y="159384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800" b="0" i="0" u="none" strike="noStrike" cap="none" spc="0">
                <a:solidFill>
                  <a:srgbClr val="0000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defRPr>
            </a:pPr>
            <a:r>
              <a:rPr lang="zh-CN">
                <a:latin typeface="JingDongLangZhengTi Semilight" panose="02000500000000000000" pitchFamily="2" charset="-122"/>
                <a:ea typeface="JingDongLangZhengTi Semilight" panose="02000500000000000000" pitchFamily="2" charset="-122"/>
              </a:rPr>
              <a:t>商品图片</a:t>
            </a:r>
          </a:p>
        </p:txBody>
      </p:sp>
      <p:cxnSp>
        <p:nvCxnSpPr>
          <p:cNvPr id="17" name="直接连接符 16"/>
          <p:cNvCxnSpPr/>
          <p:nvPr/>
        </p:nvCxnSpPr>
        <p:spPr bwMode="auto">
          <a:xfrm>
            <a:off x="2516323" y="128904"/>
            <a:ext cx="0" cy="2436496"/>
          </a:xfrm>
          <a:prstGeom prst="line">
            <a:avLst/>
          </a:prstGeom>
          <a:noFill/>
          <a:ln w="6350" cap="flat" cmpd="sng" algn="ctr">
            <a:solidFill>
              <a:srgbClr val="C00000"/>
            </a:solidFill>
            <a:prstDash val="solid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矩形 91"/>
          <p:cNvSpPr/>
          <p:nvPr/>
        </p:nvSpPr>
        <p:spPr bwMode="auto">
          <a:xfrm>
            <a:off x="601344" y="525144"/>
            <a:ext cx="1815358" cy="1900509"/>
          </a:xfrm>
          <a:prstGeom prst="rect">
            <a:avLst/>
          </a:prstGeom>
          <a:noFill/>
          <a:ln w="12700" cap="flat" cmpd="sng" algn="ctr">
            <a:solidFill>
              <a:srgbClr val="C00000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800" b="0" i="0" u="none" strike="noStrike" cap="none" spc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defRPr>
            </a:pPr>
            <a:endParaRPr lang="zh-CN">
              <a:latin typeface="JingDongLangZhengTi Semilight" panose="02000500000000000000" pitchFamily="2" charset="-122"/>
              <a:ea typeface="JingDongLangZhengTi Semilight" panose="02000500000000000000" pitchFamily="2" charset="-122"/>
            </a:endParaRPr>
          </a:p>
        </p:txBody>
      </p:sp>
      <p:sp>
        <p:nvSpPr>
          <p:cNvPr id="165" name="圆角矩形 4"/>
          <p:cNvSpPr/>
          <p:nvPr/>
        </p:nvSpPr>
        <p:spPr bwMode="auto">
          <a:xfrm>
            <a:off x="6290903" y="115888"/>
            <a:ext cx="5735997" cy="2462212"/>
          </a:xfrm>
          <a:prstGeom prst="roundRect">
            <a:avLst>
              <a:gd name="adj" fmla="val 3492"/>
            </a:avLst>
          </a:prstGeom>
          <a:noFill/>
          <a:ln w="12700" cap="flat" cmpd="sng" algn="ctr">
            <a:solidFill>
              <a:srgbClr val="C00000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800" b="0" i="0" u="none" strike="noStrike" cap="none" spc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defRPr>
            </a:pPr>
            <a:endParaRPr lang="zh-CN">
              <a:latin typeface="JingDongLangZhengTi Semilight"/>
              <a:ea typeface="JingDongLangZhengTi Semilight"/>
            </a:endParaRPr>
          </a:p>
        </p:txBody>
      </p:sp>
      <p:sp>
        <p:nvSpPr>
          <p:cNvPr id="166" name="圆角矩形 5"/>
          <p:cNvSpPr/>
          <p:nvPr/>
        </p:nvSpPr>
        <p:spPr bwMode="auto">
          <a:xfrm>
            <a:off x="6295983" y="115888"/>
            <a:ext cx="348615" cy="2462212"/>
          </a:xfrm>
          <a:prstGeom prst="roundRect">
            <a:avLst>
              <a:gd name="adj" fmla="val 16667"/>
            </a:avLst>
          </a:prstGeom>
          <a:solidFill>
            <a:srgbClr val="C000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800" b="0" i="0" u="none" strike="noStrike" cap="none" spc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defRPr>
            </a:pPr>
            <a:r>
              <a:rPr lang="zh-CN">
                <a:latin typeface="JingDongLangZhengTi Semilight"/>
                <a:ea typeface="JingDongLangZhengTi Semilight"/>
              </a:rPr>
              <a:t>到手价</a:t>
            </a:r>
          </a:p>
        </p:txBody>
      </p:sp>
      <p:sp>
        <p:nvSpPr>
          <p:cNvPr id="167" name="price_live"/>
          <p:cNvSpPr/>
          <p:nvPr/>
        </p:nvSpPr>
        <p:spPr bwMode="auto">
          <a:xfrm>
            <a:off x="7835324" y="1483428"/>
            <a:ext cx="5460999" cy="44698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  <a:defRPr lang="zh-CN" sz="1800" b="0" i="0" u="none" strike="noStrike" cap="none" spc="0">
                <a:solidFill>
                  <a:srgbClr val="0000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defRPr>
            </a:pPr>
            <a:r>
              <a:rPr lang="zh-CN" u="none" strike="noStrike" cap="none" spc="0" dirty="0">
                <a:solidFill>
                  <a:srgbClr val="000000"/>
                </a:solidFill>
                <a:latin typeface="JingDongLangZhengTi Semilight"/>
                <a:ea typeface="JingDongLangZhengTi Semilight"/>
                <a:cs typeface="Arial" panose="020B0604020202020204"/>
              </a:rPr>
              <a:t>【</a:t>
            </a:r>
            <a:r>
              <a:rPr lang="zh-CN" altLang="en-US" u="none" strike="noStrike" cap="none" spc="0" dirty="0">
                <a:solidFill>
                  <a:srgbClr val="000000"/>
                </a:solidFill>
                <a:latin typeface="JingDongLangZhengTi Semilight"/>
                <a:ea typeface="JingDongLangZhengTi Semilight"/>
                <a:cs typeface="Arial" panose="020B0604020202020204"/>
              </a:rPr>
              <a:t>直播</a:t>
            </a:r>
            <a:r>
              <a:rPr lang="zh-CN" altLang="en-US" dirty="0">
                <a:solidFill>
                  <a:srgbClr val="000000"/>
                </a:solidFill>
                <a:latin typeface="JingDongLangZhengTi Semilight"/>
                <a:ea typeface="JingDongLangZhengTi Semilight"/>
                <a:cs typeface="Arial" panose="020B0604020202020204"/>
              </a:rPr>
              <a:t>价</a:t>
            </a:r>
            <a:r>
              <a:rPr lang="zh-CN" u="none" strike="noStrike" cap="none" spc="0" dirty="0">
                <a:solidFill>
                  <a:srgbClr val="000000"/>
                </a:solidFill>
                <a:latin typeface="JingDongLangZhengTi Semilight"/>
                <a:ea typeface="JingDongLangZhengTi Semilight"/>
                <a:cs typeface="Arial" panose="020B0604020202020204"/>
              </a:rPr>
              <a:t>】</a:t>
            </a:r>
            <a:endParaRPr lang="en-US" altLang="zh-CN" b="1" u="none" strike="noStrike" cap="none" spc="0" dirty="0">
              <a:solidFill>
                <a:srgbClr val="000000"/>
              </a:solidFill>
              <a:highlight>
                <a:srgbClr val="FFFF00"/>
              </a:highlight>
              <a:latin typeface="JingDongLangZhengTi Semilight"/>
              <a:ea typeface="JingDongLangZhengTi Semilight"/>
              <a:cs typeface="Arial" panose="020B0604020202020204"/>
            </a:endParaRPr>
          </a:p>
        </p:txBody>
      </p:sp>
      <p:sp>
        <p:nvSpPr>
          <p:cNvPr id="22" name="圆角矩形 5"/>
          <p:cNvSpPr/>
          <p:nvPr/>
        </p:nvSpPr>
        <p:spPr bwMode="auto">
          <a:xfrm>
            <a:off x="8246702" y="2823434"/>
            <a:ext cx="1194987" cy="293595"/>
          </a:xfrm>
          <a:prstGeom prst="roundRect">
            <a:avLst>
              <a:gd name="adj" fmla="val 16667"/>
            </a:avLst>
          </a:prstGeom>
          <a:solidFill>
            <a:srgbClr val="C000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800" b="0" i="0" u="none" strike="noStrike" cap="none" spc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defRPr>
            </a:pPr>
            <a:r>
              <a:rPr lang="zh-CN" altLang="en-US" sz="1600" dirty="0">
                <a:latin typeface="JingDongLangZhengTi Semilight" panose="02000500000000000000" pitchFamily="2" charset="-122"/>
                <a:ea typeface="JingDongLangZhengTi Semilight" panose="02000500000000000000" pitchFamily="2" charset="-122"/>
              </a:rPr>
              <a:t>服务卖点</a:t>
            </a:r>
            <a:endParaRPr lang="zh-CN" sz="1600" dirty="0">
              <a:latin typeface="JingDongLangZhengTi Semilight" panose="02000500000000000000" pitchFamily="2" charset="-122"/>
              <a:ea typeface="JingDongLangZhengTi Semilight" panose="02000500000000000000" pitchFamily="2" charset="-122"/>
            </a:endParaRPr>
          </a:p>
        </p:txBody>
      </p:sp>
      <p:sp>
        <p:nvSpPr>
          <p:cNvPr id="23" name="圆角矩形 22"/>
          <p:cNvSpPr/>
          <p:nvPr/>
        </p:nvSpPr>
        <p:spPr bwMode="auto">
          <a:xfrm>
            <a:off x="4411345" y="2834640"/>
            <a:ext cx="3759200" cy="3875405"/>
          </a:xfrm>
          <a:prstGeom prst="roundRect">
            <a:avLst>
              <a:gd name="adj" fmla="val 3492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JingDongLangZhengTi Semilight" panose="02000500000000000000" pitchFamily="2" charset="-122"/>
              <a:ea typeface="JingDongLangZhengTi Semilight" panose="02000500000000000000" pitchFamily="2" charset="-122"/>
            </a:endParaRPr>
          </a:p>
        </p:txBody>
      </p:sp>
      <p:sp>
        <p:nvSpPr>
          <p:cNvPr id="24" name="圆角矩形 23"/>
          <p:cNvSpPr/>
          <p:nvPr/>
        </p:nvSpPr>
        <p:spPr bwMode="auto">
          <a:xfrm>
            <a:off x="8246702" y="2820713"/>
            <a:ext cx="3794125" cy="3889332"/>
          </a:xfrm>
          <a:prstGeom prst="roundRect">
            <a:avLst>
              <a:gd name="adj" fmla="val 3492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JingDongLangZhengTi Semilight"/>
              <a:ea typeface="JingDongLangZhengTi Semilight"/>
            </a:endParaRPr>
          </a:p>
        </p:txBody>
      </p:sp>
      <p:sp>
        <p:nvSpPr>
          <p:cNvPr id="26" name="selling_point_3"/>
          <p:cNvSpPr/>
          <p:nvPr/>
        </p:nvSpPr>
        <p:spPr bwMode="auto">
          <a:xfrm>
            <a:off x="4361561" y="2771619"/>
            <a:ext cx="3576465" cy="567474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 dirty="0">
                <a:solidFill/>
                <a:latin typeface="JingDongLangZhengTi Semilight"/>
                <a:ea typeface="宋体" panose="02010600030101010101" pitchFamily="2" charset="-122"/>
                <a:cs typeface="Arial" panose="020B0604020202020204"/>
              </a:rPr>
              <a:t>卖点</a:t>
            </a:r>
            <a:r>
              <a:rPr lang="en-US" altLang="zh-CN" sz="1600" b="1" dirty="0">
                <a:solidFill/>
                <a:latin typeface="JingDongLangZhengTi Semilight"/>
                <a:ea typeface="宋体" panose="02010600030101010101" pitchFamily="2" charset="-122"/>
                <a:cs typeface="Arial" panose="020B0604020202020204"/>
              </a:rPr>
              <a:t>3</a:t>
            </a:r>
            <a:r>
              <a:rPr lang="zh-CN" altLang="en-US" sz="1600" dirty="0">
                <a:solidFill/>
                <a:latin typeface="JingDongLangZhengTi Semilight"/>
                <a:ea typeface="宋体" panose="02010600030101010101" pitchFamily="2" charset="-122"/>
                <a:cs typeface="Arial" panose="020B0604020202020204"/>
              </a:rPr>
              <a:t>：</a:t>
            </a:r>
          </a:p>
        </p:txBody>
      </p:sp>
      <p:sp>
        <p:nvSpPr>
          <p:cNvPr id="8" name="AutoShape 4"/>
          <p:cNvSpPr>
            <a:spLocks noChangeAspect="1" noChangeArrowheads="1"/>
          </p:cNvSpPr>
          <p:nvPr/>
        </p:nvSpPr>
        <p:spPr bwMode="auto">
          <a:xfrm>
            <a:off x="5943600" y="1719682"/>
            <a:ext cx="1861718" cy="1861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4" name="selling_point_1">
            <a:extLst>
              <a:ext uri="{FF2B5EF4-FFF2-40B4-BE49-F238E27FC236}">
                <a16:creationId xmlns:a16="http://schemas.microsoft.com/office/drawing/2014/main" id="{1068761F-ABA4-4999-CC24-512DC36B1322}"/>
              </a:ext>
            </a:extLst>
          </p:cNvPr>
          <p:cNvSpPr txBox="1"/>
          <p:nvPr/>
        </p:nvSpPr>
        <p:spPr>
          <a:xfrm>
            <a:off x="551161" y="2891859"/>
            <a:ext cx="36294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/>
              <a:t>卖点</a:t>
            </a:r>
            <a:r>
              <a:rPr lang="en-US" altLang="zh-CN" sz="1600" dirty="0"/>
              <a:t>1</a:t>
            </a:r>
            <a:r>
              <a:rPr lang="zh-CN" altLang="en-US" dirty="0"/>
              <a:t>：</a:t>
            </a:r>
          </a:p>
        </p:txBody>
      </p:sp>
      <p:pic>
        <p:nvPicPr>
          <p:cNvPr id="9" name="product_image">
            <a:extLst>
              <a:ext uri="{FF2B5EF4-FFF2-40B4-BE49-F238E27FC236}">
                <a16:creationId xmlns:a16="http://schemas.microsoft.com/office/drawing/2014/main" id="{634CBC97-8FFF-4153-0363-5A33BA2226A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98453" y="549398"/>
            <a:ext cx="1868059" cy="1868059"/>
          </a:xfrm>
          <a:prstGeom prst="rect">
            <a:avLst/>
          </a:prstGeom>
        </p:spPr>
      </p:pic>
      <p:sp>
        <p:nvSpPr>
          <p:cNvPr id="10" name="selling_point_2">
            <a:extLst>
              <a:ext uri="{FF2B5EF4-FFF2-40B4-BE49-F238E27FC236}">
                <a16:creationId xmlns:a16="http://schemas.microsoft.com/office/drawing/2014/main" id="{40ADB5FC-E2FC-2F6B-F5E3-277FC936E962}"/>
              </a:ext>
            </a:extLst>
          </p:cNvPr>
          <p:cNvSpPr txBox="1"/>
          <p:nvPr/>
        </p:nvSpPr>
        <p:spPr>
          <a:xfrm>
            <a:off x="500868" y="5000206"/>
            <a:ext cx="36141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/>
              <a:t>卖点</a:t>
            </a:r>
            <a:r>
              <a:rPr lang="en-US" altLang="zh-CN" sz="1600" dirty="0"/>
              <a:t>2</a:t>
            </a:r>
            <a:r>
              <a:rPr lang="zh-CN" altLang="en-US" sz="1600" dirty="0"/>
              <a:t>：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BFFD0E7-A070-A149-CFF6-22CDE57CBC9B}"/>
              </a:ext>
            </a:extLst>
          </p:cNvPr>
          <p:cNvSpPr txBox="1"/>
          <p:nvPr/>
        </p:nvSpPr>
        <p:spPr>
          <a:xfrm>
            <a:off x="6713843" y="1143963"/>
            <a:ext cx="33270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【</a:t>
            </a:r>
            <a:r>
              <a:rPr lang="zh-CN" altLang="en-US" dirty="0"/>
              <a:t>是否包邮</a:t>
            </a:r>
            <a:r>
              <a:rPr lang="en-US" altLang="zh-CN" dirty="0"/>
              <a:t>】</a:t>
            </a:r>
            <a:r>
              <a:rPr lang="zh-CN" altLang="en-US" dirty="0"/>
              <a:t>是</a:t>
            </a:r>
          </a:p>
        </p:txBody>
      </p:sp>
      <p:sp>
        <p:nvSpPr>
          <p:cNvPr id="7" name="product_sku">
            <a:extLst>
              <a:ext uri="{FF2B5EF4-FFF2-40B4-BE49-F238E27FC236}">
                <a16:creationId xmlns:a16="http://schemas.microsoft.com/office/drawing/2014/main" id="{9A87E8DA-76B7-E80C-FC6D-DFFE73F64E19}"/>
              </a:ext>
            </a:extLst>
          </p:cNvPr>
          <p:cNvSpPr/>
          <p:nvPr/>
        </p:nvSpPr>
        <p:spPr bwMode="auto">
          <a:xfrm>
            <a:off x="6575901" y="578716"/>
            <a:ext cx="3402589" cy="46435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ts val="2000"/>
              </a:lnSpc>
              <a:defRPr lang="zh-CN" sz="1800" b="0" i="0" u="none" strike="noStrike" cap="none" spc="0">
                <a:solidFill>
                  <a:srgbClr val="0000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defRPr>
            </a:pPr>
            <a:r>
              <a:rPr lang="en-US" altLang="zh-CN" dirty="0">
                <a:solidFill>
                  <a:srgbClr val="000000"/>
                </a:solidFill>
                <a:latin typeface="JingDongLangZhengTi Semilight"/>
                <a:ea typeface="JingDongLangZhengTi Semilight"/>
              </a:rPr>
              <a:t>【</a:t>
            </a:r>
            <a:r>
              <a:rPr lang="en-US" altLang="zh-CN" dirty="0" err="1">
                <a:solidFill>
                  <a:srgbClr val="000000"/>
                </a:solidFill>
                <a:latin typeface="JingDongLangZhengTi Semilight"/>
                <a:ea typeface="JingDongLangZhengTi Semilight"/>
              </a:rPr>
              <a:t>sku</a:t>
            </a:r>
            <a:r>
              <a:rPr lang="en-US" altLang="zh-CN" dirty="0">
                <a:latin typeface="JingDongLangZhengTi Semilight"/>
                <a:ea typeface="JingDongLangZhengTi Semilight"/>
                <a:sym typeface="+mn-ea"/>
              </a:rPr>
              <a:t>】</a:t>
            </a:r>
          </a:p>
        </p:txBody>
      </p:sp>
      <p:sp>
        <p:nvSpPr>
          <p:cNvPr id="12" name="price_live">
            <a:extLst>
              <a:ext uri="{FF2B5EF4-FFF2-40B4-BE49-F238E27FC236}">
                <a16:creationId xmlns:a16="http://schemas.microsoft.com/office/drawing/2014/main" id="{C61B68C0-5DE4-76B5-475E-F8FA4FD576AE}"/>
              </a:ext>
            </a:extLst>
          </p:cNvPr>
          <p:cNvSpPr/>
          <p:nvPr/>
        </p:nvSpPr>
        <p:spPr bwMode="auto">
          <a:xfrm>
            <a:off x="6710002" y="1493022"/>
            <a:ext cx="5460999" cy="44698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  <a:defRPr lang="zh-CN" sz="1800" b="0" i="0" u="none" strike="noStrike" cap="none" spc="0">
                <a:solidFill>
                  <a:srgbClr val="0000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defRPr>
            </a:pPr>
            <a:r>
              <a:rPr lang="zh-CN" u="none" strike="noStrike" cap="none" spc="0" dirty="0">
                <a:solidFill>
                  <a:srgbClr val="000000"/>
                </a:solidFill>
                <a:latin typeface="JingDongLangZhengTi Semilight"/>
                <a:ea typeface="JingDongLangZhengTi Semilight"/>
                <a:cs typeface="Arial" panose="020B0604020202020204"/>
              </a:rPr>
              <a:t>【</a:t>
            </a:r>
            <a:r>
              <a:rPr lang="zh-CN" altLang="en-US" dirty="0">
                <a:solidFill>
                  <a:srgbClr val="000000"/>
                </a:solidFill>
                <a:latin typeface="JingDongLangZhengTi Semilight"/>
                <a:ea typeface="JingDongLangZhengTi Semilight"/>
                <a:cs typeface="Arial" panose="020B0604020202020204"/>
              </a:rPr>
              <a:t>直播价</a:t>
            </a:r>
            <a:r>
              <a:rPr lang="zh-CN" u="none" strike="noStrike" cap="none" spc="0" dirty="0">
                <a:solidFill>
                  <a:srgbClr val="000000"/>
                </a:solidFill>
                <a:latin typeface="JingDongLangZhengTi Semilight"/>
                <a:ea typeface="JingDongLangZhengTi Semilight"/>
                <a:cs typeface="Arial" panose="020B0604020202020204"/>
              </a:rPr>
              <a:t>】</a:t>
            </a:r>
            <a:endParaRPr lang="en-US" altLang="zh-CN" b="1" u="none" strike="noStrike" cap="none" spc="0" dirty="0">
              <a:solidFill>
                <a:srgbClr val="000000"/>
              </a:solidFill>
              <a:highlight>
                <a:srgbClr val="FFFF00"/>
              </a:highlight>
              <a:latin typeface="JingDongLangZhengTi Semilight"/>
              <a:ea typeface="JingDongLangZhengTi Semilight"/>
              <a:cs typeface="Arial" panose="020B0604020202020204"/>
            </a:endParaRPr>
          </a:p>
        </p:txBody>
      </p:sp>
      <p:sp>
        <p:nvSpPr>
          <p:cNvPr id="14" name="selling_point_4">
            <a:extLst>
              <a:ext uri="{FF2B5EF4-FFF2-40B4-BE49-F238E27FC236}">
                <a16:creationId xmlns:a16="http://schemas.microsoft.com/office/drawing/2014/main" id="{01318C31-59FB-BE3C-6C7F-89FC5845DAD6}"/>
              </a:ext>
            </a:extLst>
          </p:cNvPr>
          <p:cNvSpPr/>
          <p:nvPr/>
        </p:nvSpPr>
        <p:spPr bwMode="auto">
          <a:xfrm>
            <a:off x="4384929" y="4933249"/>
            <a:ext cx="3576465" cy="576624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 dirty="0">
                <a:solidFill/>
                <a:latin typeface="JingDongLangZhengTi Semilight"/>
                <a:ea typeface="宋体" panose="02010600030101010101" pitchFamily="2" charset="-122"/>
                <a:cs typeface="Arial" panose="020B0604020202020204"/>
              </a:rPr>
              <a:t>卖点</a:t>
            </a:r>
            <a:r>
              <a:rPr lang="en-US" altLang="zh-CN" sz="1600" b="1" dirty="0">
                <a:solidFill/>
                <a:latin typeface="JingDongLangZhengTi Semilight"/>
                <a:ea typeface="宋体" panose="02010600030101010101" pitchFamily="2" charset="-122"/>
                <a:cs typeface="Arial" panose="020B0604020202020204"/>
              </a:rPr>
              <a:t>4</a:t>
            </a:r>
            <a:r>
              <a:rPr lang="zh-CN" altLang="en-US" sz="1200" dirty="0">
                <a:solidFill/>
                <a:latin typeface="JingDongLangZhengTi Semilight"/>
                <a:ea typeface="宋体" panose="02010600030101010101" pitchFamily="2" charset="-122"/>
                <a:cs typeface="Arial" panose="020B0604020202020204"/>
              </a:rPr>
              <a:t>：</a:t>
            </a:r>
          </a:p>
        </p:txBody>
      </p:sp>
      <p:sp>
        <p:nvSpPr>
          <p:cNvPr id="15" name="文本框 17">
            <a:extLst>
              <a:ext uri="{FF2B5EF4-FFF2-40B4-BE49-F238E27FC236}">
                <a16:creationId xmlns:a16="http://schemas.microsoft.com/office/drawing/2014/main" id="{201C827D-0C95-94E1-0518-F4C3832C914A}"/>
              </a:ext>
            </a:extLst>
          </p:cNvPr>
          <p:cNvSpPr/>
          <p:nvPr/>
        </p:nvSpPr>
        <p:spPr bwMode="auto">
          <a:xfrm>
            <a:off x="8330606" y="4635936"/>
            <a:ext cx="3626316" cy="156376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ts val="3000"/>
              </a:lnSpc>
            </a:pPr>
            <a:r>
              <a:rPr lang="en-US" altLang="zh-CN" b="1" dirty="0">
                <a:solidFill>
                  <a:srgbClr val="FF0000"/>
                </a:solidFill>
                <a:latin typeface="JingDongLangZhengTi Semilight"/>
                <a:ea typeface="宋体" panose="02010600030101010101" pitchFamily="2" charset="-122"/>
                <a:cs typeface="Arial" panose="020B0604020202020204"/>
              </a:rPr>
              <a:t>2.</a:t>
            </a:r>
            <a:r>
              <a:rPr lang="" altLang="en-US" b="1" dirty="0">
                <a:solidFill>
                  <a:srgbClr val="FF0000"/>
                </a:solidFill>
                <a:latin typeface="JingDongLangZhengTi Semilight"/>
                <a:ea typeface="宋体" panose="02010600030101010101" pitchFamily="2" charset="-122"/>
                <a:cs typeface="Arial" panose="020B0604020202020204"/>
              </a:rPr>
              <a:t> </a:t>
            </a:r>
            <a:r>
              <a:rPr lang="zh-CN" altLang="en-US" b="1" dirty="0">
                <a:solidFill>
                  <a:srgbClr val="FF0000"/>
                </a:solidFill>
                <a:latin typeface="JingDongLangZhengTi Semilight"/>
                <a:ea typeface="宋体" panose="02010600030101010101" pitchFamily="2" charset="-122"/>
                <a:cs typeface="Arial" panose="020B0604020202020204"/>
              </a:rPr>
              <a:t>京东物流：</a:t>
            </a:r>
            <a:r>
              <a:rPr lang="zh-CN" altLang="en-US" dirty="0">
                <a:solidFill/>
                <a:latin typeface="JingDongLangZhengTi Semilight"/>
                <a:ea typeface="宋体" panose="02010600030101010101" pitchFamily="2" charset="-122"/>
                <a:cs typeface="Arial" panose="020B0604020202020204"/>
              </a:rPr>
              <a:t>速度快，送货上门，让消费者快速享受到产品，购买和使用更放心</a:t>
            </a:r>
            <a:r>
              <a:rPr lang="zh-CN" altLang="en-US" sz="1200" dirty="0">
                <a:solidFill/>
                <a:latin typeface="JingDongLangZhengTi Semilight"/>
                <a:ea typeface="宋体" panose="02010600030101010101" pitchFamily="2" charset="-122"/>
                <a:cs typeface="Arial" panose="020B0604020202020204"/>
              </a:rPr>
              <a:t>。</a:t>
            </a:r>
          </a:p>
          <a:p>
            <a:pPr>
              <a:lnSpc>
                <a:spcPts val="3000"/>
              </a:lnSpc>
            </a:pPr>
            <a:endParaRPr lang="" altLang="en-US" sz="1200" b="1" dirty="0">
              <a:solidFill>
                <a:srgbClr val="FF0000"/>
              </a:solidFill>
              <a:latin typeface="JingDongLangZhengTi Semilight"/>
              <a:ea typeface="宋体" panose="02010600030101010101" pitchFamily="2" charset="-122"/>
              <a:cs typeface="Arial" panose="020B0604020202020204"/>
            </a:endParaRPr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0E429291-7902-089D-85BB-6F500B51B9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6336" y="186310"/>
            <a:ext cx="3450635" cy="518205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1BA4CCA2-ABE7-91A6-18B6-1A8458D643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8336" y="140546"/>
            <a:ext cx="3456732" cy="518205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8626539A-F386-C474-5BA1-B3A54FFC7A3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8350" y="2546455"/>
            <a:ext cx="3682303" cy="493819"/>
          </a:xfrm>
          <a:prstGeom prst="rect">
            <a:avLst/>
          </a:prstGeom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BD6EDF12-D39B-A5F7-BBE2-183E31A28AF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510" y="4727742"/>
            <a:ext cx="3664014" cy="493819"/>
          </a:xfrm>
          <a:prstGeom prst="rect">
            <a:avLst/>
          </a:prstGeom>
        </p:spPr>
      </p:pic>
      <p:pic>
        <p:nvPicPr>
          <p:cNvPr id="28" name="图片 27">
            <a:extLst>
              <a:ext uri="{FF2B5EF4-FFF2-40B4-BE49-F238E27FC236}">
                <a16:creationId xmlns:a16="http://schemas.microsoft.com/office/drawing/2014/main" id="{997D6475-104E-B4E2-4E96-1F442A18254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63813" y="2435127"/>
            <a:ext cx="3627434" cy="821882"/>
          </a:xfrm>
          <a:prstGeom prst="rect">
            <a:avLst/>
          </a:prstGeom>
        </p:spPr>
      </p:pic>
      <p:pic>
        <p:nvPicPr>
          <p:cNvPr id="29" name="图片 28">
            <a:extLst>
              <a:ext uri="{FF2B5EF4-FFF2-40B4-BE49-F238E27FC236}">
                <a16:creationId xmlns:a16="http://schemas.microsoft.com/office/drawing/2014/main" id="{681D2BD6-78C5-E733-40A9-7C513FA5C43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04495" y="4612120"/>
            <a:ext cx="3633531" cy="573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753067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YmQ3NjQxYmZmN2ZkODIxYWNiNTEzMzQyMTZmNzQ1MmMifQ==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/>
            </a:gs>
            <a:gs pos="100000">
              <a:schemeClr val="phClr">
                <a:lumMod val="85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241</TotalTime>
  <Words>82</Words>
  <Application>Microsoft Office PowerPoint</Application>
  <PresentationFormat>宽屏</PresentationFormat>
  <Paragraphs>17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JingDongLangZhengTi Semilight</vt:lpstr>
      <vt:lpstr>等线</vt:lpstr>
      <vt:lpstr>Arial</vt:lpstr>
      <vt:lpstr>Wingdings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黄韵华</dc:creator>
  <cp:lastModifiedBy>caotong.888</cp:lastModifiedBy>
  <cp:revision>104</cp:revision>
  <dcterms:created xsi:type="dcterms:W3CDTF">2023-07-17T03:45:00Z</dcterms:created>
  <dcterms:modified xsi:type="dcterms:W3CDTF">2025-12-12T09:01:21Z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37261365D6454239BBA73377C7D5E972_13</vt:lpwstr>
  </property>
  <property fmtid="{D5CDD505-2E9C-101B-9397-08002B2CF9AE}" pid="3" name="KSOProductBuildVer">
    <vt:lpwstr>2052-12.1.0.20784</vt:lpwstr>
  </property>
</Properties>
</file>